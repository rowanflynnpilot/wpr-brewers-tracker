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77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WAUSAU PILOT &amp; REVIEW  ·  SPONSORSHIP KIT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Brewers,</a:t>
            </a:r>
            <a:endParaRPr lang="en-US" sz="40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numbers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85800" y="288036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D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live, season-long Milwaukee Brewers stats experience inside Wisconsin's most local news brand — with your name on it.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D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wausaupilotandreview.com   ·   sales@wausaupilotandreview.com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138928" y="2542032"/>
            <a:ext cx="3529584" cy="194767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7" name="Image 0" descr="C:\Users\rpfly\Projects\wpr-brewers-tracker\public\og-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2615184"/>
            <a:ext cx="3383280" cy="18013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Seven months of reasons to come back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90195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371600"/>
            <a:ext cx="41148" cy="1481328"/>
          </a:xfrm>
          <a:prstGeom prst="rect">
            <a:avLst/>
          </a:prstGeom>
          <a:solidFill>
            <a:srgbClr val="C8A23A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48132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22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162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2084832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 a season — a daily content engine from April to October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51760" y="1371600"/>
            <a:ext cx="190195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51760" y="1371600"/>
            <a:ext cx="41148" cy="1481328"/>
          </a:xfrm>
          <a:prstGeom prst="rect">
            <a:avLst/>
          </a:prstGeom>
          <a:solidFill>
            <a:srgbClr val="C8A23A"/>
          </a:solidFill>
          <a:ln/>
        </p:spPr>
      </p:sp>
      <p:sp>
        <p:nvSpPr>
          <p:cNvPr id="10" name="Text 8"/>
          <p:cNvSpPr/>
          <p:nvPr/>
        </p:nvSpPr>
        <p:spPr>
          <a:xfrm>
            <a:off x="2798064" y="148132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22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60s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798064" y="2084832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refresh — scores, standings and leaders are always live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36592" y="1371600"/>
            <a:ext cx="190195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36592" y="1371600"/>
            <a:ext cx="41148" cy="1481328"/>
          </a:xfrm>
          <a:prstGeom prst="rect">
            <a:avLst/>
          </a:prstGeom>
          <a:solidFill>
            <a:srgbClr val="C8A23A"/>
          </a:solidFill>
          <a:ln/>
        </p:spPr>
      </p:sp>
      <p:sp>
        <p:nvSpPr>
          <p:cNvPr id="14" name="Text 12"/>
          <p:cNvSpPr/>
          <p:nvPr/>
        </p:nvSpPr>
        <p:spPr>
          <a:xfrm>
            <a:off x="4882896" y="148132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22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882896" y="2084832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sellable sponsor surfaces on one page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21424" y="1371600"/>
            <a:ext cx="190195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21424" y="1371600"/>
            <a:ext cx="41148" cy="1481328"/>
          </a:xfrm>
          <a:prstGeom prst="rect">
            <a:avLst/>
          </a:prstGeom>
          <a:solidFill>
            <a:srgbClr val="C8A23A"/>
          </a:solidFill>
          <a:ln/>
        </p:spPr>
      </p:sp>
      <p:sp>
        <p:nvSpPr>
          <p:cNvPr id="18" name="Text 16"/>
          <p:cNvSpPr/>
          <p:nvPr/>
        </p:nvSpPr>
        <p:spPr>
          <a:xfrm>
            <a:off x="6967728" y="148132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22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967728" y="2084832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cookies — no consent banner between a reader and your brand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6928" y="3200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Wisconsin pride, hyperlocal trust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66928" y="3511296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Wausau Pilot &amp; Review is where central Wisconsin looks first for news — and the Brewers are the state's shared summer obsession. This page puts your brand inside that habit, not beside it.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3200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 quality, not ad clutter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754880" y="3511296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designed page — no programmatic ads, no pop-ups. Sponsor lockups are part of the page's design language, so your brand reads as the patron of the coverage, the way print sponsorship used to work.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readers get, all season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26464"/>
            <a:ext cx="365760" cy="365760"/>
          </a:xfrm>
          <a:prstGeom prst="ellipse">
            <a:avLst/>
          </a:prstGeom>
          <a:solidFill>
            <a:srgbClr val="12284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026" y="1521562"/>
            <a:ext cx="175565" cy="1755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8992" y="13716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game hero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078992" y="161848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Score, bases, win probability and latest plays, refreshed every 45 seconds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700016" y="1426464"/>
            <a:ext cx="365760" cy="365760"/>
          </a:xfrm>
          <a:prstGeom prst="ellipse">
            <a:avLst/>
          </a:prstGeom>
          <a:solidFill>
            <a:srgbClr val="12284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5114" y="1521562"/>
            <a:ext cx="175565" cy="17556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12080" y="13716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Standings + form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5212080" y="161848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Central with last-10 form strips and run differential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66928" y="2313432"/>
            <a:ext cx="365760" cy="365760"/>
          </a:xfrm>
          <a:prstGeom prst="ellipse">
            <a:avLst/>
          </a:prstGeom>
          <a:solidFill>
            <a:srgbClr val="12284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26" y="2408530"/>
            <a:ext cx="175565" cy="17556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78992" y="22585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division race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1078992" y="2505456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Games-back chart of the whole season, day by day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700016" y="2313432"/>
            <a:ext cx="365760" cy="365760"/>
          </a:xfrm>
          <a:prstGeom prst="ellipse">
            <a:avLst/>
          </a:prstGeom>
          <a:solidFill>
            <a:srgbClr val="12284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5114" y="2408530"/>
            <a:ext cx="175565" cy="17556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212080" y="22585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+ box scores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5212080" y="2505456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weeks of games; every final opens a full box score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566928" y="3200400"/>
            <a:ext cx="365760" cy="365760"/>
          </a:xfrm>
          <a:prstGeom prst="ellipse">
            <a:avLst/>
          </a:prstGeom>
          <a:solidFill>
            <a:srgbClr val="12284B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026" y="3295498"/>
            <a:ext cx="175565" cy="17556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78992" y="31455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First-pitch forecast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1078992" y="3392424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Ballpark weather for upcoming home games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4700016" y="3200400"/>
            <a:ext cx="365760" cy="365760"/>
          </a:xfrm>
          <a:prstGeom prst="ellipse">
            <a:avLst/>
          </a:prstGeom>
          <a:solidFill>
            <a:srgbClr val="12284B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5114" y="3295498"/>
            <a:ext cx="175565" cy="175565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212080" y="31455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day in history</a:t>
            </a:r>
            <a:endParaRPr lang="en-US" sz="1250" dirty="0"/>
          </a:p>
        </p:txBody>
      </p:sp>
      <p:sp>
        <p:nvSpPr>
          <p:cNvPr id="27" name="Text 19"/>
          <p:cNvSpPr/>
          <p:nvPr/>
        </p:nvSpPr>
        <p:spPr>
          <a:xfrm>
            <a:off x="5212080" y="3392424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daily highlight from 55+ Brewers seasons</a:t>
            </a:r>
            <a:endParaRPr lang="en-US" sz="1050" dirty="0"/>
          </a:p>
        </p:txBody>
      </p:sp>
      <p:sp>
        <p:nvSpPr>
          <p:cNvPr id="28" name="Shape 20"/>
          <p:cNvSpPr/>
          <p:nvPr/>
        </p:nvSpPr>
        <p:spPr>
          <a:xfrm>
            <a:off x="566928" y="4087368"/>
            <a:ext cx="365760" cy="365760"/>
          </a:xfrm>
          <a:prstGeom prst="ellipse">
            <a:avLst/>
          </a:prstGeom>
          <a:solidFill>
            <a:srgbClr val="12284B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026" y="4182466"/>
            <a:ext cx="175565" cy="175565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078992" y="40325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watch</a:t>
            </a:r>
            <a:endParaRPr lang="en-US" sz="1250" dirty="0"/>
          </a:p>
        </p:txBody>
      </p:sp>
      <p:sp>
        <p:nvSpPr>
          <p:cNvPr id="31" name="Text 22"/>
          <p:cNvSpPr/>
          <p:nvPr/>
        </p:nvSpPr>
        <p:spPr>
          <a:xfrm>
            <a:off x="1078992" y="427939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closing in on round numbers — a daily check-in hook</a:t>
            </a:r>
            <a:endParaRPr lang="en-US" sz="1050" dirty="0"/>
          </a:p>
        </p:txBody>
      </p:sp>
      <p:sp>
        <p:nvSpPr>
          <p:cNvPr id="32" name="Shape 23"/>
          <p:cNvSpPr/>
          <p:nvPr/>
        </p:nvSpPr>
        <p:spPr>
          <a:xfrm>
            <a:off x="4700016" y="4087368"/>
            <a:ext cx="365760" cy="365760"/>
          </a:xfrm>
          <a:prstGeom prst="ellipse">
            <a:avLst/>
          </a:prstGeom>
          <a:solidFill>
            <a:srgbClr val="12284B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95114" y="4182466"/>
            <a:ext cx="175565" cy="175565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5212080" y="40325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+ calendar</a:t>
            </a:r>
            <a:endParaRPr lang="en-US" sz="1250" dirty="0"/>
          </a:p>
        </p:txBody>
      </p:sp>
      <p:sp>
        <p:nvSpPr>
          <p:cNvPr id="35" name="Text 25"/>
          <p:cNvSpPr/>
          <p:nvPr/>
        </p:nvSpPr>
        <p:spPr>
          <a:xfrm>
            <a:off x="5212080" y="427939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Game-time alerts and a one-click season calendar download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INVENTORY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Seven surfaces, sold like print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2697480" cy="3401568"/>
          </a:xfrm>
          <a:prstGeom prst="rect">
            <a:avLst/>
          </a:prstGeom>
          <a:solidFill>
            <a:srgbClr val="F7F5F0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389888"/>
            <a:ext cx="240487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3990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Masthead + Brewers banner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755648"/>
            <a:ext cx="2404872" cy="274320"/>
          </a:xfrm>
          <a:prstGeom prst="rect">
            <a:avLst/>
          </a:prstGeom>
          <a:solidFill>
            <a:srgbClr val="C8A23A"/>
          </a:solidFill>
          <a:ln w="12700">
            <a:solidFill>
              <a:srgbClr val="C8A2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7647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2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SPONSOR LOCKUP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13232" y="2121408"/>
            <a:ext cx="2404872" cy="274320"/>
          </a:xfrm>
          <a:prstGeom prst="rect">
            <a:avLst/>
          </a:prstGeom>
          <a:solidFill>
            <a:srgbClr val="C8A23A"/>
          </a:solidFill>
          <a:ln w="12700">
            <a:solidFill>
              <a:srgbClr val="C8A2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1305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2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game hero · credit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13232" y="2487168"/>
            <a:ext cx="2404872" cy="274320"/>
          </a:xfrm>
          <a:prstGeom prst="rect">
            <a:avLst/>
          </a:prstGeom>
          <a:solidFill>
            <a:srgbClr val="FFFFFF"/>
          </a:solidFill>
          <a:ln w="15875">
            <a:solidFill>
              <a:srgbClr val="C8A2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4963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First-pitch forecast · credit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13232" y="2852928"/>
            <a:ext cx="240487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28620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pulse + standings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13232" y="3218688"/>
            <a:ext cx="2404872" cy="274320"/>
          </a:xfrm>
          <a:prstGeom prst="rect">
            <a:avLst/>
          </a:prstGeom>
          <a:solidFill>
            <a:srgbClr val="FFFFFF"/>
          </a:solidFill>
          <a:ln w="15875">
            <a:solidFill>
              <a:srgbClr val="C8A2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32278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race chart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13232" y="3584448"/>
            <a:ext cx="240487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35935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+ box scores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13232" y="3950208"/>
            <a:ext cx="2404872" cy="274320"/>
          </a:xfrm>
          <a:prstGeom prst="rect">
            <a:avLst/>
          </a:prstGeom>
          <a:solidFill>
            <a:srgbClr val="FFFFFF"/>
          </a:solidFill>
          <a:ln w="15875">
            <a:solidFill>
              <a:srgbClr val="C8A2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39593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watch · venue listing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13232" y="4315968"/>
            <a:ext cx="2404872" cy="274320"/>
          </a:xfrm>
          <a:prstGeom prst="rect">
            <a:avLst/>
          </a:prstGeom>
          <a:solidFill>
            <a:srgbClr val="FFFFFF"/>
          </a:solidFill>
          <a:ln w="15875">
            <a:solidFill>
              <a:srgbClr val="C8A2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43251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leaders section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6928" y="479145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sold    </a:t>
            </a:r>
            <a:pPr indent="0" marL="0">
              <a:buNone/>
            </a:pPr>
            <a:r>
              <a:rPr lang="en-US" sz="1000" dirty="0">
                <a:solidFill>
                  <a:srgbClr val="C8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open    </a:t>
            </a:r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editorial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11880" y="1298448"/>
            <a:ext cx="49834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11880" y="1298448"/>
            <a:ext cx="41148" cy="585216"/>
          </a:xfrm>
          <a:prstGeom prst="rect">
            <a:avLst/>
          </a:prstGeom>
          <a:solidFill>
            <a:srgbClr val="C8A23A"/>
          </a:solidFill>
          <a:ln/>
        </p:spPr>
      </p:sp>
      <p:sp>
        <p:nvSpPr>
          <p:cNvPr id="26" name="Text 24"/>
          <p:cNvSpPr/>
          <p:nvPr/>
        </p:nvSpPr>
        <p:spPr>
          <a:xfrm>
            <a:off x="3767328" y="135331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sponsorship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767328" y="159105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 banner lockup + hero credit + calendar-event credit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699248" y="1463040"/>
            <a:ext cx="749808" cy="256032"/>
          </a:xfrm>
          <a:prstGeom prst="rect">
            <a:avLst/>
          </a:prstGeom>
          <a:solidFill>
            <a:srgbClr val="12284B"/>
          </a:solidFill>
          <a:ln w="12700">
            <a:solidFill>
              <a:srgbClr val="12284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11880" y="1975104"/>
            <a:ext cx="49834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11880" y="1975104"/>
            <a:ext cx="41148" cy="585216"/>
          </a:xfrm>
          <a:prstGeom prst="rect">
            <a:avLst/>
          </a:prstGeom>
          <a:solidFill>
            <a:srgbClr val="C8A23A"/>
          </a:solidFill>
          <a:ln/>
        </p:spPr>
      </p:sp>
      <p:sp>
        <p:nvSpPr>
          <p:cNvPr id="31" name="Text 29"/>
          <p:cNvSpPr/>
          <p:nvPr/>
        </p:nvSpPr>
        <p:spPr>
          <a:xfrm>
            <a:off x="3767328" y="202996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First-pitch forecast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767328" y="226771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“Presented by” credit on the hero's ballpark forecast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699248" y="2139696"/>
            <a:ext cx="749808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A2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11880" y="2651760"/>
            <a:ext cx="49834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11880" y="2651760"/>
            <a:ext cx="41148" cy="585216"/>
          </a:xfrm>
          <a:prstGeom prst="rect">
            <a:avLst/>
          </a:prstGeom>
          <a:solidFill>
            <a:srgbClr val="C8A23A"/>
          </a:solidFill>
          <a:ln/>
        </p:spPr>
      </p:sp>
      <p:sp>
        <p:nvSpPr>
          <p:cNvPr id="36" name="Text 34"/>
          <p:cNvSpPr/>
          <p:nvPr/>
        </p:nvSpPr>
        <p:spPr>
          <a:xfrm>
            <a:off x="3767328" y="270662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race section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767328" y="294436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Lockup beside the season-long race chart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699248" y="2816352"/>
            <a:ext cx="749808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A2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611880" y="3328416"/>
            <a:ext cx="49834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11880" y="3328416"/>
            <a:ext cx="41148" cy="585216"/>
          </a:xfrm>
          <a:prstGeom prst="rect">
            <a:avLst/>
          </a:prstGeom>
          <a:solidFill>
            <a:srgbClr val="C8A23A"/>
          </a:solidFill>
          <a:ln/>
        </p:spPr>
      </p:sp>
      <p:sp>
        <p:nvSpPr>
          <p:cNvPr id="41" name="Text 39"/>
          <p:cNvSpPr/>
          <p:nvPr/>
        </p:nvSpPr>
        <p:spPr>
          <a:xfrm>
            <a:off x="3767328" y="338328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leaders section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767328" y="362102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Lockup beside batting &amp; pitching leaders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699248" y="3493008"/>
            <a:ext cx="749808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A2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611880" y="4005072"/>
            <a:ext cx="49834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611880" y="4005072"/>
            <a:ext cx="41148" cy="585216"/>
          </a:xfrm>
          <a:prstGeom prst="rect">
            <a:avLst/>
          </a:prstGeom>
          <a:solidFill>
            <a:srgbClr val="C8A23A"/>
          </a:solidFill>
          <a:ln/>
        </p:spPr>
      </p:sp>
      <p:sp>
        <p:nvSpPr>
          <p:cNvPr id="46" name="Text 44"/>
          <p:cNvSpPr/>
          <p:nvPr/>
        </p:nvSpPr>
        <p:spPr>
          <a:xfrm>
            <a:off x="3767328" y="405993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watch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767328" y="429768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venue listing: photo, amenities, game-day specials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699248" y="4169664"/>
            <a:ext cx="749808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A2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611880" y="4681728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slot shown for scale — section credits start small, and every slot is one config line to activate.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Reach that compounds beyond the page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26464"/>
            <a:ext cx="402336" cy="402336"/>
          </a:xfrm>
          <a:prstGeom prst="ellipse">
            <a:avLst/>
          </a:prstGeom>
          <a:solidFill>
            <a:srgbClr val="12284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535" y="1531071"/>
            <a:ext cx="193121" cy="1931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33856" y="13898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their calendar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33856" y="1645920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season-schedule download carries the title sponsor's credit into ~80 calendar events on readers' own phones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66928" y="2286000"/>
            <a:ext cx="402336" cy="402336"/>
          </a:xfrm>
          <a:prstGeom prst="ellipse">
            <a:avLst/>
          </a:prstGeom>
          <a:solidFill>
            <a:srgbClr val="12284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35" y="2390607"/>
            <a:ext cx="193121" cy="19312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33856" y="22494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 like an app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133856" y="2505456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Add-to-home-screen and opt-in game-time alerts pull fans back every game day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66928" y="3145536"/>
            <a:ext cx="402336" cy="402336"/>
          </a:xfrm>
          <a:prstGeom prst="ellipse">
            <a:avLst/>
          </a:prstGeom>
          <a:solidFill>
            <a:srgbClr val="12284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35" y="3250143"/>
            <a:ext cx="193121" cy="19312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33856" y="31089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 on social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133856" y="3364992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share plus a branded card preview wherever links land — Facebook, texts, group chats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66928" y="4005072"/>
            <a:ext cx="402336" cy="402336"/>
          </a:xfrm>
          <a:prstGeom prst="ellipse">
            <a:avLst/>
          </a:prstGeom>
          <a:solidFill>
            <a:srgbClr val="12284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35" y="4109679"/>
            <a:ext cx="193121" cy="19312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33856" y="39684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Renews itself daily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133856" y="4224528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games, This Day in history and milestone watch give readers a new reason to return every day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5358384" y="1737360"/>
            <a:ext cx="331012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1" name="Image 4" descr="C:\Users\rpfly\Projects\wpr-brewers-tracker\public\og-ca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1536" y="1810512"/>
            <a:ext cx="3163824" cy="168249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358384" y="3675888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 card readers post — every share is a branded impression.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Measured, not promised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26464"/>
            <a:ext cx="402336" cy="402336"/>
          </a:xfrm>
          <a:prstGeom prst="ellipse">
            <a:avLst/>
          </a:prstGeom>
          <a:solidFill>
            <a:srgbClr val="12284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535" y="1531071"/>
            <a:ext cx="193121" cy="1931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33856" y="13898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 analytics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33856" y="1645920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Plausible — cookieless, GDPR-clean, no consent banner. Page views are your impressions.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66928" y="2286000"/>
            <a:ext cx="402336" cy="402336"/>
          </a:xfrm>
          <a:prstGeom prst="ellipse">
            <a:avLst/>
          </a:prstGeom>
          <a:solidFill>
            <a:srgbClr val="12284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35" y="2390607"/>
            <a:ext cx="193121" cy="19312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33856" y="22494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Click-throughs per slot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133856" y="2505456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sponsor click is tagged with its placement, so you see exactly which surface works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66928" y="3145536"/>
            <a:ext cx="402336" cy="402336"/>
          </a:xfrm>
          <a:prstGeom prst="ellipse">
            <a:avLst/>
          </a:prstGeom>
          <a:solidFill>
            <a:srgbClr val="12284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35" y="3250143"/>
            <a:ext cx="193121" cy="19312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33856" y="31089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live dashboard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133856" y="3364992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 link to your numbers — check impressions and clicks any day of the season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66928" y="4005072"/>
            <a:ext cx="402336" cy="402336"/>
          </a:xfrm>
          <a:prstGeom prst="ellipse">
            <a:avLst/>
          </a:prstGeom>
          <a:solidFill>
            <a:srgbClr val="12284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35" y="4109679"/>
            <a:ext cx="193121" cy="19312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33856" y="39684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UTM-tagged traffic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133856" y="4224528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Visits from the tracker arrive labeled in your own analytics, end to end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5358384" y="1481328"/>
            <a:ext cx="3310128" cy="2651760"/>
          </a:xfrm>
          <a:prstGeom prst="rect">
            <a:avLst/>
          </a:prstGeom>
          <a:solidFill>
            <a:srgbClr val="F7F5F0"/>
          </a:solidFill>
          <a:ln w="12700">
            <a:solidFill>
              <a:srgbClr val="E3DDD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358384" y="1481328"/>
            <a:ext cx="45720" cy="2651760"/>
          </a:xfrm>
          <a:prstGeom prst="rect">
            <a:avLst/>
          </a:prstGeom>
          <a:solidFill>
            <a:srgbClr val="C8A23A"/>
          </a:solidFill>
          <a:ln/>
        </p:spPr>
      </p:sp>
      <p:sp>
        <p:nvSpPr>
          <p:cNvPr id="22" name="Text 16"/>
          <p:cNvSpPr/>
          <p:nvPr/>
        </p:nvSpPr>
        <p:spPr>
          <a:xfrm>
            <a:off x="5577840" y="166420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SLOT · MONTHLY REPORT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5577840" y="195681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12,400</a:t>
            </a:r>
            <a:endParaRPr lang="en-US" sz="3000" dirty="0"/>
          </a:p>
        </p:txBody>
      </p:sp>
      <p:sp>
        <p:nvSpPr>
          <p:cNvPr id="24" name="Text 18"/>
          <p:cNvSpPr/>
          <p:nvPr/>
        </p:nvSpPr>
        <p:spPr>
          <a:xfrm>
            <a:off x="5577840" y="243230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impressions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5577840" y="277977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318</a:t>
            </a:r>
            <a:endParaRPr lang="en-US" sz="3000" dirty="0"/>
          </a:p>
        </p:txBody>
      </p:sp>
      <p:sp>
        <p:nvSpPr>
          <p:cNvPr id="26" name="Text 20"/>
          <p:cNvSpPr/>
          <p:nvPr/>
        </p:nvSpPr>
        <p:spPr>
          <a:xfrm>
            <a:off x="5577840" y="325526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click-throughs to your site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5577840" y="37673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figures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28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601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Put your brand in the box score.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2402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D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run from a single-section credit to title sponsorship of the page. Slots activate the same day they're sold, and your live dashboard link comes with the first invoice.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3291840"/>
            <a:ext cx="5120640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3291840"/>
            <a:ext cx="45720" cy="1005840"/>
          </a:xfrm>
          <a:prstGeom prst="rect">
            <a:avLst/>
          </a:prstGeom>
          <a:solidFill>
            <a:srgbClr val="C8A23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43814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sales@wausaupilotandreview.com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7490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715-301-5539   ·   602 Ruder St., Wausau, WI 54403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617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D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Wausau Pilot &amp; Review — Where Locals Look First For News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Brewers, by the numbers — sponsorship</dc:title>
  <dc:subject>PptxGenJS Presentation</dc:subject>
  <dc:creator>Wausau Pilot &amp; Review</dc:creator>
  <cp:lastModifiedBy>Wausau Pilot &amp; Review</cp:lastModifiedBy>
  <cp:revision>1</cp:revision>
  <dcterms:created xsi:type="dcterms:W3CDTF">2026-06-11T02:18:27Z</dcterms:created>
  <dcterms:modified xsi:type="dcterms:W3CDTF">2026-06-11T02:18:27Z</dcterms:modified>
</cp:coreProperties>
</file>